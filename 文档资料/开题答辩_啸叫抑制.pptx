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534" autoAdjust="0"/>
  </p:normalViewPr>
  <p:slideViewPr>
    <p:cSldViewPr snapToGrid="0" snapToObjects="1">
      <p:cViewPr varScale="1">
        <p:scale>
          <a:sx n="100" d="100"/>
          <a:sy n="100" d="100"/>
        </p:scale>
        <p:origin x="7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3533F-0C1F-4291-A119-F567751F17C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A2BA7-51E4-4F3A-BEB1-B11D47E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34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各位老师，上午好。我是来自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学院的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，我的毕业设计题目是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1" i="0" dirty="0">
                <a:solidFill>
                  <a:schemeClr val="bg1"/>
                </a:solidFill>
                <a:effectLst/>
                <a:latin typeface="ui-sans-serif"/>
              </a:rPr>
              <a:t>面向啸叫频谱修复的</a:t>
            </a:r>
            <a:r>
              <a:rPr lang="en-US" altLang="zh-CN" sz="1200" b="1" i="0" dirty="0">
                <a:solidFill>
                  <a:schemeClr val="bg1"/>
                </a:solidFill>
                <a:effectLst/>
                <a:latin typeface="ui-sans-serif"/>
              </a:rPr>
              <a:t>U-Net</a:t>
            </a:r>
            <a:r>
              <a:rPr lang="zh-CN" altLang="en-US" sz="1200" b="1" i="0" dirty="0">
                <a:solidFill>
                  <a:schemeClr val="bg1"/>
                </a:solidFill>
                <a:effectLst/>
                <a:latin typeface="ui-sans-serif"/>
              </a:rPr>
              <a:t>模型优化与实现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，指导老师是冯文韬老师。今天，我将从以下四个方面向各位老师汇报我的开题情况。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2BA7-51E4-4F3A-BEB1-B11D47E9216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086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汇报主要分为四个部分：首先，我会介绍啸叫是什么，以及为什么要研究它；其次，我会分析现有的解决方法及其局限性，并引出我的技术路线；第三，我将详细阐述我的研究内容和具体实施方案；最后，是我的预期成果和进度安排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2BA7-51E4-4F3A-BEB1-B11D47E9216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982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相信大家在开会、上课或者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KTV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唱歌时，都听过一种非常刺耳的声音，这就是啸叫。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从频谱图上看，啸叫表现为一个或多个能量极高的尖峰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啸叫的危害主要有三点：第一，它严重影响听感，破坏用户体验；第二，啸叫的能量非常高，长期如此甚至可能损坏音响设备；第三，在一些重要的会议或课堂上，啸叫会直接导致信息传递中断。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因此，如何有效抑制啸叫，是一个具有现实意义和应用价值的研究课题。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“而我们再看回啸叫的频谱图，它和正常语音形成了鲜明对比。它只有一个孤零零的尖峰，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完全没有我们刚才提到的谐波结构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。这种‘干净’到极致的频谱，正是啸叫的‘指纹’。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这种视觉上的巨大差异，也为我们用深度学习模型去识别和抑制它提供了可能。模型可以很容易地学会，只要在频谱图上看到这种‘孤峰’，就把它当成啸叫处理掉。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2BA7-51E4-4F3A-BEB1-B11D47E9216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833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啸叫产生根本原因是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声学正反馈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麦克风拾取声音，经过功放放大，从扬声器播放出来，这个声音又通过空间传播，再次被麦克风拾取。如果这个循环满足两个条件，啸叫就会发生。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第一个是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幅度条件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，也就是环路增益大于或等于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。通俗地说，就是声音“转了一圈”回来后，比原来更响了。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第二个是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相位条件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，也就是反馈回来的声音和原始声音的相位相同，同相叠加。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当这两个条件同时满足时，信号在回路里不断被放大，最终形成一个无法控制的、刺耳的自激振荡，这就是啸叫。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2BA7-51E4-4F3A-BEB1-B11D47E9216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1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第一类是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移频移相法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，通过轻微改变声音的频率或相位来破坏啸叫形成的条件。它的优点是实现简单，但代价是会造成明显的音质失真，而且抑制效果有限。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第二类是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陷波抑制法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，就像做手术一样，精准地切除啸叫的那个频率点。它的针对性强，但非常依赖对啸叫频率的精确检测，一旦检测不准或者啸叫频率快速变化，效果就大打折扣。同时，直接切除也会损伤有用的声音成分。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第三类是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自适应抵消法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，理论上是最优的，它试图去模拟整个反馈路径，然后产生一个反相信号来抵消啸叫。但它的收敛速度慢，难以应对快速变化的场景，并且在音质保留和系统稳定性之间很难取得平衡。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2BA7-51E4-4F3A-BEB1-B11D47E9216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416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传统方法的核心是“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物理建模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”，即试图精确描述啸叫的物理过程，然后针对性地去破坏它。这种思路的瓶颈在于，现实场景过于复杂，模型难以完美匹配。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而新的思路是“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数据驱动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”，即让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自己去“学习”。我们不再关心啸叫是如何产生的，而是把问题转化为一个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“音频修复”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任务：给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看成千上万对“带啸叫的音频”和它对应的“纯净音频”，让它自己学会如何从前者恢复到后者。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这种端到端的学习方式有三大优势：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规避了精确检测的难题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，因为模型会自己学会识别和处理啸叫成分。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它能更好地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保留音质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，因为学习的目标就是恢复原始的纯净音频。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它具有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更强的泛化能力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，只要训练数据足够多样，就能适应各种未见过的新场景。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2BA7-51E4-4F3A-BEB1-B11D47E9216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237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围绕这个核心思路，我设计了以下四个步骤的技术方案。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首先，也是最重要的一步，是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数据准备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。我们需要构建大量的、成对的“纯净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啸叫”音频数据，作为模型的“教科书”。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其次，是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模型设计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。经过调研，我计划选用在图像修复领域表现卓越的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U-Net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网络作为我的核心架构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模型训练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。将准备好的数据喂给模型，让它通过不断优化参数，学习从啸叫音频到纯净音频的复杂映射关系。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效果评估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。我们会用客观的音频质量指标，以及主观的盲听测试，来全面评价我们训练出的模型性能。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2BA7-51E4-4F3A-BEB1-B11D47E9216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892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接下来是整个方案的核心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模型架构选型。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既然把音频问题转化为了图像修复问题，那么就可以借鉴图像领域的先进网络。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作为一个非常经典的编码器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解码器结构。它的编码器部分像是在“压缩”和“理解”图像特征，解码器部分则是在“重建”图像。它最关键的设计是这些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跳跃连接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，它们可以将编码器早期提取到的、比较精细的低层特征，直接传递给解码器。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这个特性对于我们的任务至关重要。因为啸叫通常只是频谱图上的“一小块瑕疵”，我们希望模型在“抹掉”这个瑕疵的同时，能完整地保留背景的语音信息。跳跃连接正好能帮助模型做到这一点，从而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最大程度地保留音质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当然，为了科学地验证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U-Net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的优越性，我们也会搭建一些传统的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模型作为对比实验。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2BA7-51E4-4F3A-BEB1-B11D47E9216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918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最后，是我的项目进度安排和预期成果。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这是我的时间规划表。目前，我已经完成了第一阶段的文献调研和开题准备工作。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当前，我正处在第二阶段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，正在进行数据集的构建和模型的初步搭建。这也是我下一阶段的工作重心，我会争取在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月底前完成一个可用的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版模型。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月，将是模型训练和优化的关键时期，我会进行大量的实验来调优超参数，并与基线模型进行详细的对比分析。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月份，将进行最终的系统验证，并集中精力完成毕业论文的撰写。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预期在项目结束时，我能交付以下成果：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第一，一个基于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U-Net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的高性能啸叫抑制模型。我希望它在客观指标和主观听感上，都能显著优于我前面提到的那些传统方法。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第二，一套完整、可复现的训练与评估代码。这包括从数据预处理到模型训练、评估的全套流程，方便其他研究者复现和验证我的工作。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第三，也是最终的目标，是一篇系统、高质量的毕业论文，完整地记录我的研究工作和成果。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2BA7-51E4-4F3A-BEB1-B11D47E9216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66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76D2">
                <a:alpha val="90000"/>
              </a:srgbClr>
            </a:gs>
            <a:gs pos="100000">
              <a:srgbClr val="0D47A1">
                <a:alpha val="8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33" y="2348168"/>
            <a:ext cx="8696611" cy="6757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2600"/>
              </a:spcAft>
            </a:pPr>
            <a:r>
              <a:rPr lang="zh-CN" altLang="en-US" sz="3600" b="1" i="0" dirty="0">
                <a:solidFill>
                  <a:schemeClr val="bg1"/>
                </a:solidFill>
                <a:effectLst/>
                <a:latin typeface="ui-sans-serif"/>
              </a:rPr>
              <a:t>面向啸叫频谱修复的</a:t>
            </a:r>
            <a:r>
              <a:rPr lang="en-US" altLang="zh-CN" sz="3600" b="1" i="0" dirty="0">
                <a:solidFill>
                  <a:schemeClr val="bg1"/>
                </a:solidFill>
                <a:effectLst/>
                <a:latin typeface="ui-sans-serif"/>
              </a:rPr>
              <a:t>U-Net</a:t>
            </a:r>
            <a:r>
              <a:rPr lang="zh-CN" altLang="en-US" sz="3600" b="1" i="0" dirty="0">
                <a:solidFill>
                  <a:schemeClr val="bg1"/>
                </a:solidFill>
                <a:effectLst/>
                <a:latin typeface="ui-sans-serif"/>
              </a:rPr>
              <a:t>模型优化与实现</a:t>
            </a:r>
            <a:endParaRPr sz="3348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6733" y="3697064"/>
            <a:ext cx="2024850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b="1" dirty="0" err="1">
                <a:solidFill>
                  <a:srgbClr val="E3F2FD"/>
                </a:solidFill>
                <a:latin typeface="+mj-ea"/>
                <a:ea typeface="+mj-ea"/>
              </a:rPr>
              <a:t>答辩人</a:t>
            </a:r>
            <a:r>
              <a:rPr b="1" dirty="0">
                <a:solidFill>
                  <a:srgbClr val="E3F2FD"/>
                </a:solidFill>
                <a:latin typeface="+mj-ea"/>
                <a:ea typeface="+mj-ea"/>
              </a:rPr>
              <a:t>：</a:t>
            </a:r>
            <a:r>
              <a:rPr lang="en-US" b="1" dirty="0">
                <a:solidFill>
                  <a:srgbClr val="E3F2FD"/>
                </a:solidFill>
                <a:latin typeface="+mj-ea"/>
                <a:ea typeface="+mj-ea"/>
              </a:rPr>
              <a:t>   </a:t>
            </a:r>
            <a:r>
              <a:rPr lang="zh-CN" altLang="en-US" b="1" dirty="0">
                <a:solidFill>
                  <a:srgbClr val="E3F2FD"/>
                </a:solidFill>
                <a:latin typeface="+mj-ea"/>
                <a:ea typeface="+mj-ea"/>
              </a:rPr>
              <a:t>司宇鑫</a:t>
            </a:r>
            <a:endParaRPr b="1" dirty="0">
              <a:solidFill>
                <a:srgbClr val="E3F2FD"/>
              </a:solidFill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733" y="4068539"/>
            <a:ext cx="1994392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b="1" dirty="0" err="1">
                <a:solidFill>
                  <a:srgbClr val="E3F2FD"/>
                </a:solidFill>
                <a:latin typeface="+mj-ea"/>
                <a:ea typeface="+mj-ea"/>
              </a:rPr>
              <a:t>指导老师：</a:t>
            </a:r>
            <a:r>
              <a:rPr dirty="0" err="1">
                <a:solidFill>
                  <a:srgbClr val="E3F2FD"/>
                </a:solidFill>
                <a:latin typeface="+mj-ea"/>
                <a:ea typeface="+mj-ea"/>
              </a:rPr>
              <a:t>冯文韬</a:t>
            </a:r>
            <a:endParaRPr dirty="0">
              <a:solidFill>
                <a:srgbClr val="E3F2FD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733" y="4470791"/>
            <a:ext cx="1481431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00" b="0" dirty="0">
                <a:solidFill>
                  <a:srgbClr val="E3F2FD"/>
                </a:solidFill>
                <a:latin typeface="+mj-ea"/>
                <a:ea typeface="+mj-ea"/>
              </a:rPr>
              <a:t>202</a:t>
            </a:r>
            <a:r>
              <a:rPr lang="en-US" sz="1400" b="0" dirty="0">
                <a:solidFill>
                  <a:srgbClr val="E3F2FD"/>
                </a:solidFill>
                <a:latin typeface="+mj-ea"/>
                <a:ea typeface="+mj-ea"/>
              </a:rPr>
              <a:t>5</a:t>
            </a:r>
            <a:r>
              <a:rPr sz="1400" b="0" dirty="0">
                <a:solidFill>
                  <a:srgbClr val="E3F2FD"/>
                </a:solidFill>
                <a:latin typeface="+mj-ea"/>
                <a:ea typeface="+mj-ea"/>
              </a:rPr>
              <a:t>年1</a:t>
            </a:r>
            <a:r>
              <a:rPr lang="en-US" sz="1400" b="0" dirty="0">
                <a:solidFill>
                  <a:srgbClr val="E3F2FD"/>
                </a:solidFill>
                <a:latin typeface="+mj-ea"/>
                <a:ea typeface="+mj-ea"/>
              </a:rPr>
              <a:t>2</a:t>
            </a:r>
            <a:r>
              <a:rPr sz="1400" b="0" dirty="0">
                <a:solidFill>
                  <a:srgbClr val="E3F2FD"/>
                </a:solidFill>
                <a:latin typeface="+mj-ea"/>
                <a:ea typeface="+mj-ea"/>
              </a:rPr>
              <a:t>月</a:t>
            </a:r>
            <a:r>
              <a:rPr lang="en-US" sz="1400" b="0" dirty="0">
                <a:solidFill>
                  <a:srgbClr val="E3F2FD"/>
                </a:solidFill>
                <a:latin typeface="+mj-ea"/>
                <a:ea typeface="+mj-ea"/>
              </a:rPr>
              <a:t>15</a:t>
            </a:r>
            <a:r>
              <a:rPr lang="zh-CN" altLang="en-US" sz="1400" b="0" dirty="0">
                <a:solidFill>
                  <a:srgbClr val="E3F2FD"/>
                </a:solidFill>
                <a:latin typeface="+mj-ea"/>
                <a:ea typeface="+mj-ea"/>
              </a:rPr>
              <a:t>日</a:t>
            </a:r>
            <a:endParaRPr sz="1400" b="0" dirty="0">
              <a:solidFill>
                <a:srgbClr val="E3F2FD"/>
              </a:solidFill>
              <a:latin typeface="+mj-ea"/>
              <a:ea typeface="+mj-ea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766560" y="3687920"/>
            <a:ext cx="3429001" cy="2043119"/>
          </a:xfrm>
          <a:prstGeom prst="roundRect">
            <a:avLst>
              <a:gd name="adj" fmla="val 1224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553" y="4179835"/>
            <a:ext cx="275037" cy="2131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10103" y="4093865"/>
            <a:ext cx="2460331" cy="35702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FFFFFF"/>
                </a:solidFill>
              </a:rPr>
              <a:t>音频增强系统中的</a:t>
            </a:r>
            <a:r>
              <a:rPr sz="1600" b="1" dirty="0" err="1">
                <a:solidFill>
                  <a:srgbClr val="BBDEFB"/>
                </a:solidFill>
              </a:rPr>
              <a:t>啸叫现象</a:t>
            </a:r>
            <a:endParaRPr sz="1315" b="1" dirty="0">
              <a:solidFill>
                <a:srgbClr val="BBDEFB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6552" y="4682649"/>
            <a:ext cx="275037" cy="2131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9546" y="4589164"/>
            <a:ext cx="2269444" cy="35702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FFFFFF"/>
                </a:solidFill>
              </a:rPr>
              <a:t>基于</a:t>
            </a:r>
            <a:r>
              <a:rPr sz="1600" b="1" dirty="0" err="1">
                <a:solidFill>
                  <a:srgbClr val="BBDEFB"/>
                </a:solidFill>
              </a:rPr>
              <a:t>深度学习</a:t>
            </a:r>
            <a:r>
              <a:rPr sz="1200" b="0" dirty="0" err="1">
                <a:solidFill>
                  <a:srgbClr val="FFFFFF"/>
                </a:solidFill>
              </a:rPr>
              <a:t>的解决方案</a:t>
            </a:r>
            <a:endParaRPr sz="1200" b="0" dirty="0">
              <a:solidFill>
                <a:srgbClr val="FFFFFF"/>
              </a:solidFill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6553" y="5164511"/>
            <a:ext cx="275038" cy="2475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05784" y="5084465"/>
            <a:ext cx="2502750" cy="35702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FFFFFF"/>
                </a:solidFill>
              </a:rPr>
              <a:t>保留音质，提高</a:t>
            </a:r>
            <a:r>
              <a:rPr sz="1600" b="1" dirty="0" err="1">
                <a:solidFill>
                  <a:srgbClr val="BBDEFB"/>
                </a:solidFill>
              </a:rPr>
              <a:t>系统稳定性</a:t>
            </a:r>
            <a:endParaRPr sz="1600" b="1" dirty="0">
              <a:solidFill>
                <a:srgbClr val="BBDEF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1981" y="745450"/>
            <a:ext cx="1071062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 err="1">
                <a:solidFill>
                  <a:srgbClr val="1565C0"/>
                </a:solidFill>
              </a:rPr>
              <a:t>目录</a:t>
            </a:r>
            <a:endParaRPr sz="3600" b="1" dirty="0">
              <a:solidFill>
                <a:srgbClr val="1565C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66733" y="2505074"/>
            <a:ext cx="5238619" cy="1247775"/>
          </a:xfrm>
          <a:prstGeom prst="roundRect">
            <a:avLst>
              <a:gd name="adj" fmla="val 244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2476" y="28384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822" y="2995246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14457" y="2763613"/>
            <a:ext cx="381771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b="1" dirty="0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457" y="3162935"/>
            <a:ext cx="199439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A237E"/>
                </a:solidFill>
              </a:rPr>
              <a:t>选题背景与研究意义</a:t>
            </a:r>
            <a:endParaRPr sz="1600" b="1" dirty="0">
              <a:solidFill>
                <a:srgbClr val="1A237E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86342" y="2505074"/>
            <a:ext cx="5238619" cy="1247775"/>
          </a:xfrm>
          <a:prstGeom prst="roundRect">
            <a:avLst>
              <a:gd name="adj" fmla="val 244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2085" y="28384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5432" y="2995246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34066" y="2763613"/>
            <a:ext cx="381771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b="1" dirty="0">
                <a:solidFill>
                  <a:srgbClr val="1565C0"/>
                </a:solidFill>
              </a:rPr>
              <a:t>02</a:t>
            </a:r>
            <a:endParaRPr sz="1435" b="1" dirty="0">
              <a:solidFill>
                <a:srgbClr val="1565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34066" y="3162935"/>
            <a:ext cx="260994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A237E"/>
                </a:solidFill>
              </a:rPr>
              <a:t>国内外研究现状与技术路线</a:t>
            </a:r>
            <a:endParaRPr sz="1600" b="1" dirty="0">
              <a:solidFill>
                <a:srgbClr val="1A237E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6733" y="4133849"/>
            <a:ext cx="5238619" cy="1247775"/>
          </a:xfrm>
          <a:prstGeom prst="roundRect">
            <a:avLst>
              <a:gd name="adj" fmla="val 244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52476" y="44767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822" y="4645269"/>
            <a:ext cx="304792" cy="2344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14457" y="4392389"/>
            <a:ext cx="381771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b="1" dirty="0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4457" y="4791710"/>
            <a:ext cx="199439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A237E"/>
                </a:solidFill>
              </a:rPr>
              <a:t>研究内容与实施方案</a:t>
            </a:r>
            <a:endParaRPr sz="1600" b="1" dirty="0">
              <a:solidFill>
                <a:srgbClr val="1A237E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86342" y="4133849"/>
            <a:ext cx="5238619" cy="1247775"/>
          </a:xfrm>
          <a:prstGeom prst="roundRect">
            <a:avLst>
              <a:gd name="adj" fmla="val 244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72085" y="44767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5432" y="4632080"/>
            <a:ext cx="304792" cy="2608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34066" y="4392389"/>
            <a:ext cx="381771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b="1" dirty="0">
                <a:solidFill>
                  <a:srgbClr val="1565C0"/>
                </a:solidFill>
              </a:rPr>
              <a:t>04</a:t>
            </a:r>
            <a:endParaRPr sz="1435" b="1" dirty="0">
              <a:solidFill>
                <a:srgbClr val="1565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34066" y="4791710"/>
            <a:ext cx="199439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A237E"/>
                </a:solidFill>
              </a:rPr>
              <a:t>预期目标与进度计划</a:t>
            </a:r>
            <a:endParaRPr sz="1196" b="1" dirty="0">
              <a:solidFill>
                <a:srgbClr val="1A237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2285942" cy="552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565C0"/>
                </a:solidFill>
              </a:rPr>
              <a:t>什么是啸叫？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972740"/>
            <a:ext cx="5286242" cy="2283618"/>
          </a:xfrm>
          <a:prstGeom prst="roundRect">
            <a:avLst>
              <a:gd name="adj" fmla="val 115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5327" y="1190618"/>
            <a:ext cx="140448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啸叫常见场景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1256584"/>
            <a:ext cx="228594" cy="1943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5327" y="1658539"/>
            <a:ext cx="2343091" cy="495299"/>
          </a:xfrm>
          <a:prstGeom prst="roundRect">
            <a:avLst>
              <a:gd name="adj" fmla="val 461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624" y="1833716"/>
            <a:ext cx="266693" cy="1449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90615" y="1758456"/>
            <a:ext cx="763286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1A237E"/>
                </a:solidFill>
              </a:rPr>
              <a:t>在线会议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90815" y="1658539"/>
            <a:ext cx="2343091" cy="495299"/>
          </a:xfrm>
          <a:prstGeom prst="roundRect">
            <a:avLst>
              <a:gd name="adj" fmla="val 461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5112" y="1801828"/>
            <a:ext cx="266693" cy="2087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86102" y="1758456"/>
            <a:ext cx="763286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1A237E"/>
                </a:solidFill>
              </a:rPr>
              <a:t>课堂演讲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95327" y="2306238"/>
            <a:ext cx="2343091" cy="495299"/>
          </a:xfrm>
          <a:prstGeom prst="roundRect">
            <a:avLst>
              <a:gd name="adj" fmla="val 461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624" y="2449528"/>
            <a:ext cx="266693" cy="2087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90615" y="2406156"/>
            <a:ext cx="665503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1A237E"/>
                </a:solidFill>
              </a:rPr>
              <a:t>KTV</a:t>
            </a:r>
            <a:r>
              <a:rPr sz="1076" b="0" dirty="0" err="1">
                <a:solidFill>
                  <a:srgbClr val="1A237E"/>
                </a:solidFill>
              </a:rPr>
              <a:t>娱乐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90815" y="2306238"/>
            <a:ext cx="2343091" cy="495299"/>
          </a:xfrm>
          <a:prstGeom prst="roundRect">
            <a:avLst>
              <a:gd name="adj" fmla="val 461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05112" y="2437932"/>
            <a:ext cx="266693" cy="23191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86102" y="2406156"/>
            <a:ext cx="917174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1A237E"/>
                </a:solidFill>
              </a:rPr>
              <a:t>演唱会现场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66733" y="3408758"/>
            <a:ext cx="5286242" cy="2951556"/>
          </a:xfrm>
          <a:prstGeom prst="roundRect">
            <a:avLst>
              <a:gd name="adj" fmla="val 92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5327" y="3485997"/>
            <a:ext cx="1045414" cy="3262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啸叫现象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5327" y="3566251"/>
            <a:ext cx="228594" cy="16573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27" y="3953918"/>
            <a:ext cx="4829054" cy="171450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2214" y="5744777"/>
            <a:ext cx="4829054" cy="5611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刺耳的高频声音</a:t>
            </a:r>
            <a:r>
              <a:rPr sz="1400" b="0" dirty="0" err="1">
                <a:solidFill>
                  <a:srgbClr val="1A237E"/>
                </a:solidFill>
              </a:rPr>
              <a:t>，频谱图上表现为特定频率点的明显峰值，不包含高次谐波</a:t>
            </a:r>
            <a:r>
              <a:rPr sz="1400" b="0" dirty="0">
                <a:solidFill>
                  <a:srgbClr val="1A237E"/>
                </a:solidFill>
              </a:rPr>
              <a:t>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8719" y="972740"/>
            <a:ext cx="5286242" cy="2283619"/>
          </a:xfrm>
          <a:prstGeom prst="roundRect">
            <a:avLst>
              <a:gd name="adj" fmla="val 115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7313" y="1058633"/>
            <a:ext cx="140448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啸叫三大危害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82057" y="1138251"/>
            <a:ext cx="228594" cy="185737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467313" y="1452705"/>
            <a:ext cx="4829054" cy="476249"/>
          </a:xfrm>
          <a:prstGeom prst="roundRect">
            <a:avLst>
              <a:gd name="adj" fmla="val 4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81610" y="1596056"/>
            <a:ext cx="228594" cy="2085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24501" y="1527709"/>
            <a:ext cx="2561855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严重影响听感</a:t>
            </a:r>
            <a:r>
              <a:rPr sz="1400" b="0" dirty="0" err="1">
                <a:solidFill>
                  <a:srgbClr val="1A237E"/>
                </a:solidFill>
              </a:rPr>
              <a:t>，破坏用户体验</a:t>
            </a:r>
            <a:r>
              <a:rPr sz="1400" b="0" dirty="0">
                <a:solidFill>
                  <a:srgbClr val="1A237E"/>
                </a:solidFill>
              </a:rPr>
              <a:t>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67313" y="2081355"/>
            <a:ext cx="4829054" cy="476249"/>
          </a:xfrm>
          <a:prstGeom prst="roundRect">
            <a:avLst>
              <a:gd name="adj" fmla="val 4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81610" y="2246137"/>
            <a:ext cx="228594" cy="1657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24501" y="2156359"/>
            <a:ext cx="327038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损坏音响设备</a:t>
            </a:r>
            <a:r>
              <a:rPr sz="1400" b="0" dirty="0" err="1">
                <a:solidFill>
                  <a:srgbClr val="1A237E"/>
                </a:solidFill>
              </a:rPr>
              <a:t>，高功率冲击损害扬声器</a:t>
            </a:r>
            <a:r>
              <a:rPr sz="1400" b="0" dirty="0">
                <a:solidFill>
                  <a:srgbClr val="1A237E"/>
                </a:solidFill>
              </a:rPr>
              <a:t> 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67313" y="2710005"/>
            <a:ext cx="4829054" cy="476249"/>
          </a:xfrm>
          <a:prstGeom prst="roundRect">
            <a:avLst>
              <a:gd name="adj" fmla="val 4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81610" y="2864786"/>
            <a:ext cx="228594" cy="18573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24501" y="2785009"/>
            <a:ext cx="291131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信息传递中断</a:t>
            </a:r>
            <a:r>
              <a:rPr sz="1400" b="0" dirty="0" err="1">
                <a:solidFill>
                  <a:srgbClr val="1A237E"/>
                </a:solidFill>
              </a:rPr>
              <a:t>，影响关键场合沟通</a:t>
            </a:r>
            <a:r>
              <a:rPr sz="1400" b="0" dirty="0">
                <a:solidFill>
                  <a:srgbClr val="1A237E"/>
                </a:solidFill>
              </a:rPr>
              <a:t> 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238719" y="3445429"/>
            <a:ext cx="5286242" cy="2949703"/>
          </a:xfrm>
          <a:prstGeom prst="roundRect">
            <a:avLst>
              <a:gd name="adj" fmla="val 92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67313" y="3545960"/>
            <a:ext cx="140448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啸叫频谱特征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90147" y="3620499"/>
            <a:ext cx="228594" cy="17716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467313" y="4013881"/>
            <a:ext cx="4829054" cy="1714500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6354" y="5797436"/>
            <a:ext cx="4829054" cy="5611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持续尖锐的峰值</a:t>
            </a:r>
            <a:r>
              <a:rPr sz="1400" b="0" dirty="0" err="1">
                <a:solidFill>
                  <a:srgbClr val="1A237E"/>
                </a:solidFill>
              </a:rPr>
              <a:t>，与正常音频信号不同，啸叫频率通常不含有高次谐波</a:t>
            </a:r>
            <a:r>
              <a:rPr sz="1400" b="0" dirty="0">
                <a:solidFill>
                  <a:srgbClr val="1A237E"/>
                </a:solidFill>
              </a:rPr>
              <a:t> </a:t>
            </a:r>
            <a:endParaRPr sz="1076" b="0" dirty="0">
              <a:solidFill>
                <a:srgbClr val="1A237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2285942" cy="552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565C0"/>
                </a:solidFill>
              </a:rPr>
              <a:t>啸叫产生原理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62049"/>
            <a:ext cx="5286242" cy="1559052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5327" y="1264484"/>
            <a:ext cx="1584023" cy="3262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声学正反馈概念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399" y="1325305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27" y="1635251"/>
            <a:ext cx="4829054" cy="8572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A237E"/>
                </a:solidFill>
              </a:rPr>
              <a:t> 声学反馈是指扬声器发出的声学信号经各种路径返回到传声器中，形成</a:t>
            </a:r>
            <a:r>
              <a:rPr sz="1400" b="1" dirty="0">
                <a:solidFill>
                  <a:srgbClr val="D32F2F"/>
                </a:solidFill>
              </a:rPr>
              <a:t>闭环回路</a:t>
            </a:r>
            <a:r>
              <a:rPr sz="1400" b="0" dirty="0">
                <a:solidFill>
                  <a:srgbClr val="1A237E"/>
                </a:solidFill>
              </a:rPr>
              <a:t>。当满足特定条件时，信号在循环中不断放大，最终导致</a:t>
            </a:r>
            <a:r>
              <a:rPr sz="1400" b="1" dirty="0">
                <a:solidFill>
                  <a:srgbClr val="D32F2F"/>
                </a:solidFill>
              </a:rPr>
              <a:t>自激振荡</a:t>
            </a:r>
            <a:r>
              <a:rPr sz="1400" b="0" dirty="0">
                <a:solidFill>
                  <a:srgbClr val="1A237E"/>
                </a:solidFill>
              </a:rPr>
              <a:t>。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911600"/>
            <a:ext cx="5286242" cy="3638550"/>
          </a:xfrm>
          <a:prstGeom prst="roundRect">
            <a:avLst>
              <a:gd name="adj" fmla="val 83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5327" y="3129479"/>
            <a:ext cx="1224951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闭环系统图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27" y="3184016"/>
            <a:ext cx="228594" cy="21717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123921" y="3597400"/>
            <a:ext cx="4490495" cy="22860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5327" y="6003917"/>
            <a:ext cx="4466223" cy="3495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麦克风→功放→扬声器→空间→麦克风</a:t>
            </a:r>
            <a:r>
              <a:rPr sz="1400" b="0" dirty="0" err="1">
                <a:solidFill>
                  <a:srgbClr val="1A237E"/>
                </a:solidFill>
              </a:rPr>
              <a:t>的声学反馈回路</a:t>
            </a:r>
            <a:r>
              <a:rPr sz="1400" b="0" dirty="0">
                <a:solidFill>
                  <a:srgbClr val="1A237E"/>
                </a:solidFill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719" y="1162810"/>
            <a:ext cx="5286242" cy="3083053"/>
          </a:xfrm>
          <a:prstGeom prst="roundRect">
            <a:avLst>
              <a:gd name="adj" fmla="val 9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7313" y="1380689"/>
            <a:ext cx="1943096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啸叫产生的两个条件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7313" y="1460942"/>
            <a:ext cx="228594" cy="16573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67313" y="1848610"/>
            <a:ext cx="4829054" cy="895350"/>
          </a:xfrm>
          <a:prstGeom prst="roundRect">
            <a:avLst>
              <a:gd name="adj" fmla="val 25531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9709" y="2051948"/>
            <a:ext cx="266693" cy="2029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38799" y="2001010"/>
            <a:ext cx="4105172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565C0"/>
                </a:solidFill>
              </a:rPr>
              <a:t>幅度条件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8799" y="2314505"/>
            <a:ext cx="399974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A237E"/>
                </a:solidFill>
              </a:rPr>
              <a:t> </a:t>
            </a:r>
            <a:r>
              <a:rPr sz="1400" b="1" dirty="0">
                <a:solidFill>
                  <a:srgbClr val="D32F2F"/>
                </a:solidFill>
              </a:rPr>
              <a:t>环路增益≥1</a:t>
            </a:r>
            <a:r>
              <a:rPr sz="1400" b="0" dirty="0">
                <a:solidFill>
                  <a:srgbClr val="1A237E"/>
                </a:solidFill>
              </a:rPr>
              <a:t>，</a:t>
            </a:r>
            <a:r>
              <a:rPr sz="1400" b="1" dirty="0">
                <a:solidFill>
                  <a:srgbClr val="1A237E"/>
                </a:solidFill>
              </a:rPr>
              <a:t>反馈信号幅度不小于输入信号幅度</a:t>
            </a:r>
            <a:r>
              <a:rPr sz="1400" b="0" dirty="0">
                <a:solidFill>
                  <a:srgbClr val="1A237E"/>
                </a:solidFill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67313" y="2896359"/>
            <a:ext cx="4829054" cy="895350"/>
          </a:xfrm>
          <a:prstGeom prst="roundRect">
            <a:avLst>
              <a:gd name="adj" fmla="val 25531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9709" y="3102596"/>
            <a:ext cx="266693" cy="19712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38799" y="3048760"/>
            <a:ext cx="4105172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565C0"/>
                </a:solidFill>
              </a:rPr>
              <a:t>相位条件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8799" y="3362256"/>
            <a:ext cx="401417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A237E"/>
                </a:solidFill>
              </a:rPr>
              <a:t> </a:t>
            </a:r>
            <a:r>
              <a:rPr sz="1400" b="1" dirty="0">
                <a:solidFill>
                  <a:srgbClr val="D32F2F"/>
                </a:solidFill>
              </a:rPr>
              <a:t>相位差为2π</a:t>
            </a:r>
            <a:r>
              <a:rPr sz="1400" b="1" dirty="0" err="1">
                <a:solidFill>
                  <a:srgbClr val="D32F2F"/>
                </a:solidFill>
              </a:rPr>
              <a:t>的整数倍</a:t>
            </a:r>
            <a:r>
              <a:rPr sz="1400" b="1" dirty="0" err="1">
                <a:solidFill>
                  <a:srgbClr val="1A237E"/>
                </a:solidFill>
              </a:rPr>
              <a:t>，反馈信号与输入信号同相</a:t>
            </a:r>
            <a:r>
              <a:rPr sz="1400" b="1" dirty="0">
                <a:solidFill>
                  <a:srgbClr val="1A237E"/>
                </a:solidFill>
              </a:rPr>
              <a:t>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8719" y="4473700"/>
            <a:ext cx="5286242" cy="2076449"/>
          </a:xfrm>
          <a:prstGeom prst="roundRect">
            <a:avLst>
              <a:gd name="adj" fmla="val 146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7313" y="4691579"/>
            <a:ext cx="176356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啸叫条件数学表达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67313" y="4771833"/>
            <a:ext cx="228594" cy="16573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467313" y="5159500"/>
            <a:ext cx="4829054" cy="504824"/>
          </a:xfrm>
          <a:prstGeom prst="roundRect">
            <a:avLst>
              <a:gd name="adj" fmla="val 30188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604" y="5233402"/>
            <a:ext cx="1396473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A237E"/>
                </a:solidFill>
              </a:rPr>
              <a:t>|G(ω)F(ω)| ≥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67313" y="5816725"/>
            <a:ext cx="4829054" cy="504824"/>
          </a:xfrm>
          <a:prstGeom prst="roundRect">
            <a:avLst>
              <a:gd name="adj" fmla="val 30188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5446" y="5890627"/>
            <a:ext cx="1992790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A237E"/>
                </a:solidFill>
              </a:rPr>
              <a:t>∠G(ω)F(ω) = n2π, </a:t>
            </a:r>
            <a:r>
              <a:rPr sz="1600" b="0" dirty="0" err="1">
                <a:solidFill>
                  <a:srgbClr val="1A237E"/>
                </a:solidFill>
              </a:rPr>
              <a:t>n∈Z</a:t>
            </a:r>
            <a:endParaRPr sz="1600" b="0" dirty="0">
              <a:solidFill>
                <a:srgbClr val="1A237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3428914" cy="552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565C0"/>
                </a:solidFill>
              </a:rPr>
              <a:t>传统方法及其局限性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506" y="1043435"/>
            <a:ext cx="833266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1560"/>
              </a:spcAft>
            </a:pPr>
            <a:r>
              <a:rPr b="0" dirty="0">
                <a:solidFill>
                  <a:srgbClr val="333333"/>
                </a:solidFill>
              </a:rPr>
              <a:t> </a:t>
            </a:r>
            <a:r>
              <a:rPr b="0" dirty="0" err="1">
                <a:solidFill>
                  <a:srgbClr val="333333"/>
                </a:solidFill>
              </a:rPr>
              <a:t>传统啸叫抑制方法存在多种局限性，</a:t>
            </a:r>
            <a:r>
              <a:rPr b="1" dirty="0" err="1">
                <a:solidFill>
                  <a:srgbClr val="D32F2F"/>
                </a:solidFill>
              </a:rPr>
              <a:t>效果有限</a:t>
            </a:r>
            <a:r>
              <a:rPr b="0" dirty="0" err="1">
                <a:solidFill>
                  <a:srgbClr val="333333"/>
                </a:solidFill>
              </a:rPr>
              <a:t>或</a:t>
            </a:r>
            <a:r>
              <a:rPr b="1" dirty="0" err="1">
                <a:solidFill>
                  <a:srgbClr val="D32F2F"/>
                </a:solidFill>
              </a:rPr>
              <a:t>牺牲音质</a:t>
            </a:r>
            <a:r>
              <a:rPr b="0" dirty="0" err="1">
                <a:solidFill>
                  <a:srgbClr val="333333"/>
                </a:solidFill>
              </a:rPr>
              <a:t>，难以应对复杂场景</a:t>
            </a:r>
            <a:r>
              <a:rPr b="0" dirty="0">
                <a:solidFill>
                  <a:srgbClr val="333333"/>
                </a:solidFill>
              </a:rPr>
              <a:t>。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65351"/>
            <a:ext cx="3495587" cy="3705224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1893951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2085916"/>
            <a:ext cx="304792" cy="1875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9209" y="2017776"/>
            <a:ext cx="1142971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565C0"/>
                </a:solidFill>
              </a:rPr>
              <a:t>移频移相法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27" y="2592843"/>
            <a:ext cx="10005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00" b="1" dirty="0" err="1">
                <a:solidFill>
                  <a:srgbClr val="1565C0"/>
                </a:solidFill>
              </a:rPr>
              <a:t>核心思想</a:t>
            </a:r>
            <a:r>
              <a:rPr sz="1196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27" y="2679483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327" y="2931346"/>
            <a:ext cx="230216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改变输入信号的频率和相位</a:t>
            </a:r>
            <a:endParaRPr sz="1076" b="0" dirty="0">
              <a:solidFill>
                <a:srgbClr val="33333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5327" y="3373892"/>
            <a:ext cx="10005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00" b="1" dirty="0" err="1">
                <a:solidFill>
                  <a:srgbClr val="1565C0"/>
                </a:solidFill>
              </a:rPr>
              <a:t>主要优点</a:t>
            </a:r>
            <a:r>
              <a:rPr sz="1196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327" y="3459132"/>
            <a:ext cx="190495" cy="1652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5327" y="3712397"/>
            <a:ext cx="86587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实现简单</a:t>
            </a:r>
            <a:endParaRPr sz="1076" b="0" dirty="0">
              <a:solidFill>
                <a:srgbClr val="333333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5327" y="4154943"/>
            <a:ext cx="10005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00" b="1" dirty="0" err="1">
                <a:solidFill>
                  <a:srgbClr val="1565C0"/>
                </a:solidFill>
              </a:rPr>
              <a:t>关键局限</a:t>
            </a:r>
            <a:r>
              <a:rPr sz="1196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5327" y="4240182"/>
            <a:ext cx="190495" cy="16528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27" y="4493446"/>
            <a:ext cx="257788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>
                <a:solidFill>
                  <a:srgbClr val="D32F2F"/>
                </a:solidFill>
              </a:rPr>
              <a:t>音质失真</a:t>
            </a:r>
            <a:r>
              <a:rPr sz="1400" b="0" dirty="0">
                <a:solidFill>
                  <a:srgbClr val="333333"/>
                </a:solidFill>
              </a:rPr>
              <a:t>，效果有限（10dB）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816" y="1665351"/>
            <a:ext cx="3495587" cy="3705224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81410" y="1893951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14757" y="2071262"/>
            <a:ext cx="304792" cy="2168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05292" y="2017776"/>
            <a:ext cx="1142971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565C0"/>
                </a:solidFill>
              </a:rPr>
              <a:t>陷波抑制法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410" y="2592843"/>
            <a:ext cx="10005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00" b="1" dirty="0" err="1">
                <a:solidFill>
                  <a:srgbClr val="1565C0"/>
                </a:solidFill>
              </a:rPr>
              <a:t>核心思想</a:t>
            </a:r>
            <a:r>
              <a:rPr sz="1196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410" y="2679483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81410" y="2931346"/>
            <a:ext cx="194309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切除反馈自激的频率点</a:t>
            </a:r>
            <a:endParaRPr sz="1400" b="0" dirty="0">
              <a:solidFill>
                <a:srgbClr val="333333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81410" y="3373892"/>
            <a:ext cx="10005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00" b="1" dirty="0" err="1">
                <a:solidFill>
                  <a:srgbClr val="1565C0"/>
                </a:solidFill>
              </a:rPr>
              <a:t>主要优点</a:t>
            </a:r>
            <a:r>
              <a:rPr sz="1196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1410" y="3459132"/>
            <a:ext cx="190495" cy="16528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81410" y="3712397"/>
            <a:ext cx="86587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针对性强</a:t>
            </a:r>
            <a:endParaRPr sz="1076" b="0" dirty="0">
              <a:solidFill>
                <a:srgbClr val="333333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81410" y="4154943"/>
            <a:ext cx="10005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00" b="1" dirty="0" err="1">
                <a:solidFill>
                  <a:srgbClr val="1565C0"/>
                </a:solidFill>
              </a:rPr>
              <a:t>关键局限</a:t>
            </a:r>
            <a:r>
              <a:rPr sz="1196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1410" y="4240182"/>
            <a:ext cx="190495" cy="16528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81410" y="4493446"/>
            <a:ext cx="283596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333333"/>
                </a:solidFill>
              </a:rPr>
              <a:t> </a:t>
            </a:r>
            <a:r>
              <a:rPr sz="1400" b="0" dirty="0">
                <a:solidFill>
                  <a:srgbClr val="D32F2F"/>
                </a:solidFill>
              </a:rPr>
              <a:t>依赖精确检测</a:t>
            </a:r>
            <a:r>
              <a:rPr sz="1400" b="0" dirty="0">
                <a:solidFill>
                  <a:srgbClr val="333333"/>
                </a:solidFill>
              </a:rPr>
              <a:t>，音质损伤（8dB） </a:t>
            </a:r>
            <a:endParaRPr sz="1076" b="0" dirty="0">
              <a:solidFill>
                <a:srgbClr val="333333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029374" y="1665351"/>
            <a:ext cx="3495587" cy="3705224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57968" y="1893951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91315" y="2036093"/>
            <a:ext cx="304792" cy="2872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81850" y="2017776"/>
            <a:ext cx="1371565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565C0"/>
                </a:solidFill>
              </a:rPr>
              <a:t>自适应抵消法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968" y="2592843"/>
            <a:ext cx="10005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00" b="1" dirty="0" err="1">
                <a:solidFill>
                  <a:srgbClr val="1565C0"/>
                </a:solidFill>
              </a:rPr>
              <a:t>核心思想</a:t>
            </a:r>
            <a:r>
              <a:rPr sz="1196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7968" y="2679483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57968" y="2931346"/>
            <a:ext cx="284077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估计反馈路径，产生反相信号抵消</a:t>
            </a:r>
            <a:endParaRPr sz="1400" b="0" dirty="0">
              <a:solidFill>
                <a:srgbClr val="33333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57968" y="3373892"/>
            <a:ext cx="10005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00" b="1" dirty="0" err="1">
                <a:solidFill>
                  <a:srgbClr val="1565C0"/>
                </a:solidFill>
              </a:rPr>
              <a:t>主要优点</a:t>
            </a:r>
            <a:r>
              <a:rPr sz="1196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7968" y="3459132"/>
            <a:ext cx="190495" cy="16528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57968" y="3712397"/>
            <a:ext cx="104541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理论上最优</a:t>
            </a:r>
            <a:endParaRPr sz="1400" b="0" dirty="0">
              <a:solidFill>
                <a:srgbClr val="333333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57968" y="4154943"/>
            <a:ext cx="10005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00" b="1" dirty="0" err="1">
                <a:solidFill>
                  <a:srgbClr val="1565C0"/>
                </a:solidFill>
              </a:rPr>
              <a:t>关键局限</a:t>
            </a:r>
            <a:r>
              <a:rPr sz="1196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7968" y="4240182"/>
            <a:ext cx="190495" cy="16528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257968" y="4493446"/>
            <a:ext cx="292092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D32F2F"/>
                </a:solidFill>
              </a:rPr>
              <a:t>收敛速度慢</a:t>
            </a:r>
            <a:r>
              <a:rPr sz="1400" b="0" dirty="0" err="1">
                <a:solidFill>
                  <a:srgbClr val="333333"/>
                </a:solidFill>
              </a:rPr>
              <a:t>，音质与稳定性难兼顾</a:t>
            </a:r>
            <a:r>
              <a:rPr sz="1400" b="0" dirty="0">
                <a:solidFill>
                  <a:srgbClr val="333333"/>
                </a:solidFill>
              </a:rPr>
              <a:t>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6733" y="5599176"/>
            <a:ext cx="10858228" cy="590549"/>
          </a:xfrm>
          <a:prstGeom prst="roundRect">
            <a:avLst>
              <a:gd name="adj" fmla="val 38709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6733" y="5716389"/>
            <a:ext cx="10817320" cy="3561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1560"/>
              </a:spcBef>
              <a:spcAft>
                <a:spcPts val="0"/>
              </a:spcAft>
            </a:pPr>
            <a:r>
              <a:rPr sz="1600" b="0" dirty="0" err="1">
                <a:solidFill>
                  <a:srgbClr val="1565C0"/>
                </a:solidFill>
              </a:rPr>
              <a:t>传统方法普遍依赖精确检测，难以应对复杂场景。因此，探索无需精确检测、能更好保留音质的新方法具有重要意义</a:t>
            </a:r>
            <a:r>
              <a:rPr sz="1600" b="0" dirty="0">
                <a:solidFill>
                  <a:srgbClr val="1565C0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523961" cy="552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565C0"/>
                </a:solidFill>
              </a:rPr>
              <a:t>研究思路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69741"/>
            <a:ext cx="10858228" cy="1099039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2476" y="1230556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872" y="1473192"/>
            <a:ext cx="457188" cy="2767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00199" y="1263892"/>
            <a:ext cx="9239019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435" b="1" dirty="0" err="1">
                <a:solidFill>
                  <a:srgbClr val="1565C0"/>
                </a:solidFill>
              </a:rPr>
              <a:t>核心转变</a:t>
            </a:r>
            <a:endParaRPr sz="1435" b="1" dirty="0">
              <a:solidFill>
                <a:srgbClr val="1565C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000199" y="1630606"/>
            <a:ext cx="2190695" cy="447675"/>
          </a:xfrm>
          <a:prstGeom prst="roundRect">
            <a:avLst>
              <a:gd name="adj" fmla="val 34042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81717" y="1669778"/>
            <a:ext cx="1763560" cy="3495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D32F2F"/>
                </a:solidFill>
              </a:rPr>
              <a:t>建立物理模型去抑制</a:t>
            </a:r>
            <a:endParaRPr sz="1315" b="0" dirty="0">
              <a:solidFill>
                <a:srgbClr val="D32F2F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885" y="1741242"/>
            <a:ext cx="304792" cy="2168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67173" y="1630606"/>
            <a:ext cx="3428914" cy="447675"/>
          </a:xfrm>
          <a:prstGeom prst="roundRect">
            <a:avLst>
              <a:gd name="adj" fmla="val 34042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7322" y="1669778"/>
            <a:ext cx="2802306" cy="3495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2E7D32"/>
                </a:solidFill>
              </a:rPr>
              <a:t>AI学会从带噪音频中恢复纯净音频</a:t>
            </a:r>
            <a:endParaRPr sz="1315" b="0" dirty="0">
              <a:solidFill>
                <a:srgbClr val="2E7D3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6886" y="2553431"/>
            <a:ext cx="10858228" cy="1457601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4422" y="2810629"/>
            <a:ext cx="10286742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565C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565C0"/>
                </a:solidFill>
              </a:rPr>
              <a:t> 技术路线图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076" y="2872957"/>
            <a:ext cx="266693" cy="20872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552789" y="2794498"/>
            <a:ext cx="1904952" cy="1038224"/>
          </a:xfrm>
          <a:prstGeom prst="roundRect">
            <a:avLst>
              <a:gd name="adj" fmla="val 22018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3819" y="2988283"/>
            <a:ext cx="342891" cy="2601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21029" y="3363702"/>
            <a:ext cx="968471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A237E"/>
                </a:solidFill>
              </a:rPr>
              <a:t>啸叫音频</a:t>
            </a:r>
            <a:endParaRPr sz="1196" b="1" dirty="0">
              <a:solidFill>
                <a:srgbClr val="1A237E"/>
              </a:solidFill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0137" y="3174903"/>
            <a:ext cx="380990" cy="26789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143524" y="2794498"/>
            <a:ext cx="1904952" cy="1038224"/>
          </a:xfrm>
          <a:prstGeom prst="roundRect">
            <a:avLst>
              <a:gd name="adj" fmla="val 22018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24554" y="2985327"/>
            <a:ext cx="342891" cy="2660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3523" y="3379091"/>
            <a:ext cx="122495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A237E"/>
                </a:solidFill>
              </a:rPr>
              <a:t>深度学习模型</a:t>
            </a:r>
            <a:endParaRPr sz="1196" b="1" dirty="0">
              <a:solidFill>
                <a:srgbClr val="1A237E"/>
              </a:solidFill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0872" y="3174903"/>
            <a:ext cx="380990" cy="26789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34259" y="2794498"/>
            <a:ext cx="1904952" cy="1038224"/>
          </a:xfrm>
          <a:prstGeom prst="roundRect">
            <a:avLst>
              <a:gd name="adj" fmla="val 22018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15290" y="2985327"/>
            <a:ext cx="342891" cy="26604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53796" y="3379091"/>
            <a:ext cx="86587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A237E"/>
                </a:solidFill>
              </a:rPr>
              <a:t>纯净音频</a:t>
            </a:r>
            <a:endParaRPr sz="1196" b="1" dirty="0">
              <a:solidFill>
                <a:srgbClr val="1A237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66733" y="4219121"/>
            <a:ext cx="3495587" cy="2047874"/>
          </a:xfrm>
          <a:prstGeom prst="roundRect">
            <a:avLst>
              <a:gd name="adj" fmla="val 148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124021" y="4447721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57368" y="4589863"/>
            <a:ext cx="304792" cy="2872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720345" y="5131224"/>
            <a:ext cx="1378839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780"/>
              </a:spcAft>
            </a:pPr>
            <a:r>
              <a:rPr sz="1600" b="1" dirty="0" err="1">
                <a:solidFill>
                  <a:srgbClr val="1565C0"/>
                </a:solidFill>
              </a:rPr>
              <a:t>规避检测难题</a:t>
            </a:r>
            <a:endParaRPr sz="1600" b="1" dirty="0">
              <a:solidFill>
                <a:srgbClr val="1565C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22988" y="5539687"/>
            <a:ext cx="1973554" cy="5211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无需单独啸叫检测模块</a:t>
            </a:r>
            <a:r>
              <a:rPr sz="1600" dirty="0"/>
              <a:t>
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避免检测误差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endParaRPr sz="1076" b="0" dirty="0">
              <a:solidFill>
                <a:srgbClr val="333333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52816" y="4219121"/>
            <a:ext cx="3495587" cy="2047874"/>
          </a:xfrm>
          <a:prstGeom prst="roundRect">
            <a:avLst>
              <a:gd name="adj" fmla="val 148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810104" y="4447721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43451" y="4625032"/>
            <a:ext cx="304792" cy="2168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11612" y="5131224"/>
            <a:ext cx="968471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780"/>
              </a:spcAft>
            </a:pPr>
            <a:r>
              <a:rPr sz="1600" b="1" dirty="0" err="1">
                <a:solidFill>
                  <a:srgbClr val="1565C0"/>
                </a:solidFill>
              </a:rPr>
              <a:t>保留音质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63760" y="5539687"/>
            <a:ext cx="1664175" cy="5211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端到端学习</a:t>
            </a:r>
            <a:r>
              <a:rPr sz="1600" dirty="0"/>
              <a:t>
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更好恢复音频细节</a:t>
            </a:r>
            <a:r>
              <a:rPr sz="1400" b="0" dirty="0">
                <a:solidFill>
                  <a:srgbClr val="333333"/>
                </a:solidFill>
              </a:rPr>
              <a:t>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9374" y="4219121"/>
            <a:ext cx="3495587" cy="2047874"/>
          </a:xfrm>
          <a:prstGeom prst="roundRect">
            <a:avLst>
              <a:gd name="adj" fmla="val 148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496187" y="4447721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629534" y="4597190"/>
            <a:ext cx="304792" cy="27256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297694" y="5131224"/>
            <a:ext cx="968471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780"/>
              </a:spcAft>
            </a:pPr>
            <a:r>
              <a:rPr sz="1600" b="1" dirty="0" err="1">
                <a:solidFill>
                  <a:srgbClr val="1565C0"/>
                </a:solidFill>
              </a:rPr>
              <a:t>强泛化性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29380" y="5539687"/>
            <a:ext cx="1305101" cy="5211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海量数据训练</a:t>
            </a:r>
            <a:r>
              <a:rPr sz="1600" dirty="0"/>
              <a:t>
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适应不同场景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endParaRPr sz="1076" b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523961" cy="552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565C0"/>
                </a:solidFill>
              </a:rPr>
              <a:t>技术方案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3581" y="948119"/>
            <a:ext cx="10858228" cy="2033585"/>
          </a:xfrm>
          <a:prstGeom prst="roundRect">
            <a:avLst>
              <a:gd name="adj" fmla="val 117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6452" y="1052496"/>
            <a:ext cx="1362809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1565C0"/>
                </a:solidFill>
              </a:rPr>
              <a:t> </a:t>
            </a:r>
            <a:r>
              <a:rPr sz="1600" b="1" dirty="0" err="1">
                <a:solidFill>
                  <a:srgbClr val="1565C0"/>
                </a:solidFill>
              </a:rPr>
              <a:t>流程图展示</a:t>
            </a:r>
            <a:r>
              <a:rPr sz="143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828" y="1126645"/>
            <a:ext cx="266693" cy="2087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831800" y="137674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3721" y="1577094"/>
            <a:ext cx="342891" cy="266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80931" y="2155494"/>
            <a:ext cx="968471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00" b="1" dirty="0" err="1">
                <a:solidFill>
                  <a:srgbClr val="1565C0"/>
                </a:solidFill>
              </a:rPr>
              <a:t>数据准备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9552" y="2509386"/>
            <a:ext cx="248170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rgbClr val="D32F2F"/>
                </a:solidFill>
                <a:latin typeface="+mn-ea"/>
              </a:rPr>
              <a:t>&lt;</a:t>
            </a:r>
            <a:r>
              <a:rPr lang="zh-CN" altLang="en-US" sz="1400" b="1" dirty="0">
                <a:solidFill>
                  <a:srgbClr val="D32F2F"/>
                </a:solidFill>
                <a:latin typeface="+mn-ea"/>
              </a:rPr>
              <a:t>纯净音频</a:t>
            </a:r>
            <a:r>
              <a:rPr lang="en-US" altLang="zh-CN" sz="1400" b="1" dirty="0">
                <a:solidFill>
                  <a:srgbClr val="D32F2F"/>
                </a:solidFill>
                <a:latin typeface="+mn-ea"/>
              </a:rPr>
              <a:t>, </a:t>
            </a:r>
            <a:r>
              <a:rPr lang="zh-CN" altLang="en-US" sz="1400" b="1" dirty="0">
                <a:solidFill>
                  <a:srgbClr val="D32F2F"/>
                </a:solidFill>
                <a:latin typeface="+mn-ea"/>
              </a:rPr>
              <a:t>啸叫音频</a:t>
            </a:r>
            <a:r>
              <a:rPr lang="en-US" altLang="zh-CN" sz="1400" b="1" dirty="0">
                <a:solidFill>
                  <a:srgbClr val="D32F2F"/>
                </a:solidFill>
                <a:latin typeface="+mn-ea"/>
              </a:rPr>
              <a:t>&gt;</a:t>
            </a:r>
            <a:r>
              <a:rPr lang="zh-CN" altLang="en-US" sz="1400" b="0" dirty="0">
                <a:solidFill>
                  <a:srgbClr val="333333"/>
                </a:solidFill>
                <a:latin typeface="+mn-ea"/>
              </a:rPr>
              <a:t>数据对</a:t>
            </a:r>
            <a:endParaRPr sz="1400" b="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03486" y="137674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5407" y="1577094"/>
            <a:ext cx="342891" cy="266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2617" y="2155494"/>
            <a:ext cx="968471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00" b="1" dirty="0" err="1">
                <a:solidFill>
                  <a:srgbClr val="1565C0"/>
                </a:solidFill>
              </a:rPr>
              <a:t>模型设计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5305" y="2509386"/>
            <a:ext cx="1943097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  <a:latin typeface="+mn-ea"/>
              </a:rPr>
              <a:t>选择深度学习网络架构</a:t>
            </a:r>
            <a:endParaRPr sz="1076" b="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975171" y="137674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7092" y="1563792"/>
            <a:ext cx="342891" cy="2926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24302" y="2155494"/>
            <a:ext cx="968471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00" b="1" dirty="0" err="1">
                <a:solidFill>
                  <a:srgbClr val="1565C0"/>
                </a:solidFill>
              </a:rPr>
              <a:t>模型训练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96063" y="2509386"/>
            <a:ext cx="122495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  <a:latin typeface="+mn-ea"/>
              </a:rPr>
              <a:t>学习映射关系</a:t>
            </a:r>
            <a:endParaRPr sz="1076" b="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546857" y="137674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08778" y="1577094"/>
            <a:ext cx="342891" cy="26604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95988" y="2155494"/>
            <a:ext cx="968471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00" b="1" dirty="0" err="1">
                <a:solidFill>
                  <a:srgbClr val="1565C0"/>
                </a:solidFill>
              </a:rPr>
              <a:t>效果评估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98444" y="2509386"/>
            <a:ext cx="1763561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  <a:latin typeface="+mn-ea"/>
              </a:rPr>
              <a:t>客观指标和主观听感</a:t>
            </a:r>
            <a:endParaRPr sz="1076" b="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3581" y="3194111"/>
            <a:ext cx="5286242" cy="3390899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175" y="3411990"/>
            <a:ext cx="176356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数据构建与预处理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2175" y="3492243"/>
            <a:ext cx="228594" cy="16573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22175" y="3879911"/>
            <a:ext cx="4829054" cy="466724"/>
          </a:xfrm>
          <a:prstGeom prst="roundRect">
            <a:avLst>
              <a:gd name="adj" fmla="val 48979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6472" y="4035168"/>
            <a:ext cx="228594" cy="1657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79364" y="3955282"/>
            <a:ext cx="291131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1A237E"/>
                </a:solidFill>
              </a:rPr>
              <a:t>数据来源：</a:t>
            </a:r>
            <a:r>
              <a:rPr sz="1400" b="0" dirty="0" err="1">
                <a:solidFill>
                  <a:srgbClr val="1A237E"/>
                </a:solidFill>
              </a:rPr>
              <a:t>公开数据集</a:t>
            </a:r>
            <a:r>
              <a:rPr sz="1400" b="0" dirty="0">
                <a:solidFill>
                  <a:srgbClr val="1A237E"/>
                </a:solidFill>
              </a:rPr>
              <a:t> + </a:t>
            </a:r>
            <a:r>
              <a:rPr sz="1400" b="0" dirty="0" err="1">
                <a:solidFill>
                  <a:srgbClr val="1A237E"/>
                </a:solidFill>
              </a:rPr>
              <a:t>自主合成</a:t>
            </a:r>
            <a:r>
              <a:rPr sz="1400" b="0" dirty="0">
                <a:solidFill>
                  <a:srgbClr val="1A237E"/>
                </a:solidFill>
              </a:rPr>
              <a:t>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175" y="4499036"/>
            <a:ext cx="4829054" cy="466724"/>
          </a:xfrm>
          <a:prstGeom prst="roundRect">
            <a:avLst>
              <a:gd name="adj" fmla="val 48979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36472" y="4654293"/>
            <a:ext cx="228594" cy="16573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79364" y="4574407"/>
            <a:ext cx="395031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1A237E"/>
                </a:solidFill>
              </a:rPr>
              <a:t>数据结构：</a:t>
            </a:r>
            <a:r>
              <a:rPr sz="1400" b="0" dirty="0" err="1">
                <a:solidFill>
                  <a:srgbClr val="1A237E"/>
                </a:solidFill>
              </a:rPr>
              <a:t>data</a:t>
            </a:r>
            <a:r>
              <a:rPr sz="1400" b="0" dirty="0">
                <a:solidFill>
                  <a:srgbClr val="1A237E"/>
                </a:solidFill>
              </a:rPr>
              <a:t>/train/clean 和 data/train/howling 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2175" y="5127686"/>
            <a:ext cx="4829054" cy="466724"/>
          </a:xfrm>
          <a:prstGeom prst="roundRect">
            <a:avLst>
              <a:gd name="adj" fmla="val 48979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36472" y="5273418"/>
            <a:ext cx="228594" cy="1657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79364" y="5203057"/>
            <a:ext cx="3639073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1A237E"/>
                </a:solidFill>
              </a:rPr>
              <a:t>数据特点：</a:t>
            </a:r>
            <a:r>
              <a:rPr sz="1400" b="0" dirty="0" err="1">
                <a:solidFill>
                  <a:srgbClr val="1A237E"/>
                </a:solidFill>
              </a:rPr>
              <a:t>成对数据，纯净与啸叫音频对应</a:t>
            </a:r>
            <a:r>
              <a:rPr sz="1400" b="0" dirty="0">
                <a:solidFill>
                  <a:srgbClr val="1A237E"/>
                </a:solidFill>
              </a:rPr>
              <a:t>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5567" y="3194111"/>
            <a:ext cx="5286242" cy="3390899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4161" y="3411990"/>
            <a:ext cx="1224951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1565C0"/>
                </a:solidFill>
              </a:rPr>
              <a:t> </a:t>
            </a:r>
            <a:r>
              <a:rPr sz="1400" b="1" dirty="0" err="1">
                <a:solidFill>
                  <a:srgbClr val="1565C0"/>
                </a:solidFill>
              </a:rPr>
              <a:t>预处理流程</a:t>
            </a:r>
            <a:r>
              <a:rPr sz="1315" b="1" dirty="0">
                <a:solidFill>
                  <a:srgbClr val="1565C0"/>
                </a:solidFill>
              </a:rPr>
              <a:t>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94161" y="3477956"/>
            <a:ext cx="228594" cy="194309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394161" y="3879911"/>
            <a:ext cx="4829054" cy="533399"/>
          </a:xfrm>
          <a:prstGeom prst="roundRect">
            <a:avLst>
              <a:gd name="adj" fmla="val 4285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08458" y="3994211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43667" y="3984778"/>
            <a:ext cx="30479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5647" y="3983490"/>
            <a:ext cx="86587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565C0"/>
                </a:solidFill>
              </a:rPr>
              <a:t>音频分帧</a:t>
            </a:r>
            <a:endParaRPr sz="1076" b="1" dirty="0">
              <a:solidFill>
                <a:srgbClr val="1565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41925" y="3993381"/>
            <a:ext cx="176356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切分为固定长度片段</a:t>
            </a:r>
            <a:endParaRPr sz="1076" b="0" dirty="0">
              <a:solidFill>
                <a:srgbClr val="333333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394161" y="4527611"/>
            <a:ext cx="4829054" cy="533399"/>
          </a:xfrm>
          <a:prstGeom prst="roundRect">
            <a:avLst>
              <a:gd name="adj" fmla="val 4285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08458" y="4641911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43667" y="4637244"/>
            <a:ext cx="30479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5647" y="4631190"/>
            <a:ext cx="86587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565C0"/>
                </a:solidFill>
              </a:rPr>
              <a:t>时频变换</a:t>
            </a:r>
            <a:endParaRPr sz="1076" b="1" dirty="0">
              <a:solidFill>
                <a:srgbClr val="1565C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841925" y="4641082"/>
            <a:ext cx="174310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STFT转换为时频谱图</a:t>
            </a:r>
            <a:endParaRPr sz="1400" b="0" dirty="0">
              <a:solidFill>
                <a:srgbClr val="333333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394161" y="5175310"/>
            <a:ext cx="4829054" cy="533399"/>
          </a:xfrm>
          <a:prstGeom prst="roundRect">
            <a:avLst>
              <a:gd name="adj" fmla="val 4285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508458" y="5289610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43667" y="5289610"/>
            <a:ext cx="30479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5647" y="5278889"/>
            <a:ext cx="86587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565C0"/>
                </a:solidFill>
              </a:rPr>
              <a:t>特征提取</a:t>
            </a:r>
            <a:endParaRPr sz="1076" b="1" dirty="0">
              <a:solidFill>
                <a:srgbClr val="1565C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41925" y="5288782"/>
            <a:ext cx="212263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提取幅度谱作为模型输入</a:t>
            </a:r>
            <a:endParaRPr sz="1076" b="0" dirty="0">
              <a:solidFill>
                <a:srgbClr val="333333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394161" y="5823011"/>
            <a:ext cx="4829054" cy="533399"/>
          </a:xfrm>
          <a:prstGeom prst="roundRect">
            <a:avLst>
              <a:gd name="adj" fmla="val 4285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508458" y="5937311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55466" y="5937311"/>
            <a:ext cx="30479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65647" y="5926590"/>
            <a:ext cx="68634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565C0"/>
                </a:solidFill>
              </a:rPr>
              <a:t>归一化</a:t>
            </a:r>
            <a:endParaRPr sz="1076" b="1" dirty="0">
              <a:solidFill>
                <a:srgbClr val="1565C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841925" y="5936481"/>
            <a:ext cx="230216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333333"/>
                </a:solidFill>
              </a:rPr>
              <a:t>对频谱数据进行归一化处理</a:t>
            </a:r>
            <a:endParaRPr sz="1076" b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2285942" cy="552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565C0"/>
                </a:solidFill>
              </a:rPr>
              <a:t>模型架构选型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4" y="986786"/>
            <a:ext cx="5305292" cy="1001397"/>
          </a:xfrm>
          <a:prstGeom prst="roundRect">
            <a:avLst>
              <a:gd name="adj" fmla="val 2539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95327" y="1148711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199" y="1336235"/>
            <a:ext cx="380990" cy="291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0655" y="1110612"/>
            <a:ext cx="9505712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1565C0"/>
                </a:solidFill>
              </a:rPr>
              <a:t>核心思想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8652" y="1428613"/>
            <a:ext cx="3435492" cy="3495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 dirty="0">
                <a:solidFill>
                  <a:srgbClr val="1A237E"/>
                </a:solidFill>
              </a:rPr>
              <a:t> </a:t>
            </a:r>
            <a:r>
              <a:rPr sz="1400" b="0" dirty="0" err="1">
                <a:solidFill>
                  <a:srgbClr val="1A237E"/>
                </a:solidFill>
              </a:rPr>
              <a:t>将啸叫抑制视为</a:t>
            </a:r>
            <a:r>
              <a:rPr sz="1400" b="1" dirty="0" err="1">
                <a:solidFill>
                  <a:srgbClr val="D32F2F"/>
                </a:solidFill>
              </a:rPr>
              <a:t>"图像到图像"</a:t>
            </a:r>
            <a:r>
              <a:rPr sz="1400" b="0" dirty="0" err="1">
                <a:solidFill>
                  <a:srgbClr val="1A237E"/>
                </a:solidFill>
              </a:rPr>
              <a:t>的修复任务</a:t>
            </a:r>
            <a:r>
              <a:rPr sz="1400" b="0" dirty="0">
                <a:solidFill>
                  <a:srgbClr val="1A237E"/>
                </a:solidFill>
              </a:rPr>
              <a:t> </a:t>
            </a:r>
            <a:endParaRPr sz="1315" b="0" dirty="0">
              <a:solidFill>
                <a:srgbClr val="1A237E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00619" y="414927"/>
            <a:ext cx="5305292" cy="4811389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651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57788" y="520967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1134" y="699888"/>
            <a:ext cx="304792" cy="234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2145" y="602978"/>
            <a:ext cx="2100190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565C0"/>
                </a:solidFill>
              </a:rPr>
              <a:t>U-Net（主攻方向</a:t>
            </a:r>
            <a:r>
              <a:rPr b="1" dirty="0">
                <a:solidFill>
                  <a:srgbClr val="1565C0"/>
                </a:solidFill>
              </a:rPr>
              <a:t>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8263" y="1092467"/>
            <a:ext cx="4810004" cy="2095499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8263" y="3340367"/>
            <a:ext cx="4810004" cy="466724"/>
          </a:xfrm>
          <a:prstGeom prst="roundRect">
            <a:avLst>
              <a:gd name="adj" fmla="val 326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2560" y="3507334"/>
            <a:ext cx="190495" cy="123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67352" y="3415738"/>
            <a:ext cx="170905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编码器-解码器</a:t>
            </a:r>
            <a:r>
              <a:rPr sz="1400" b="0" dirty="0" err="1">
                <a:solidFill>
                  <a:srgbClr val="1A237E"/>
                </a:solidFill>
              </a:rPr>
              <a:t>结构</a:t>
            </a:r>
            <a:r>
              <a:rPr sz="1400" b="0" dirty="0">
                <a:solidFill>
                  <a:srgbClr val="1A237E"/>
                </a:solidFill>
              </a:rPr>
              <a:t> 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48263" y="3921392"/>
            <a:ext cx="4810004" cy="466724"/>
          </a:xfrm>
          <a:prstGeom prst="roundRect">
            <a:avLst>
              <a:gd name="adj" fmla="val 326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62560" y="4102366"/>
            <a:ext cx="190495" cy="952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67352" y="3996763"/>
            <a:ext cx="201362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跳跃连接</a:t>
            </a:r>
            <a:r>
              <a:rPr sz="1400" b="0" dirty="0" err="1">
                <a:solidFill>
                  <a:srgbClr val="1A237E"/>
                </a:solidFill>
              </a:rPr>
              <a:t>保留低频信息</a:t>
            </a:r>
            <a:r>
              <a:rPr sz="1400" b="0" dirty="0">
                <a:solidFill>
                  <a:srgbClr val="1A237E"/>
                </a:solidFill>
              </a:rPr>
              <a:t> 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48263" y="4502416"/>
            <a:ext cx="4810004" cy="466724"/>
          </a:xfrm>
          <a:prstGeom prst="roundRect">
            <a:avLst>
              <a:gd name="adj" fmla="val 326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62560" y="4645572"/>
            <a:ext cx="190495" cy="17088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67352" y="4577787"/>
            <a:ext cx="194309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A237E"/>
                </a:solidFill>
              </a:rPr>
              <a:t>图像修复领域表现卓越</a:t>
            </a:r>
            <a:endParaRPr sz="1400" b="0" dirty="0">
              <a:solidFill>
                <a:srgbClr val="1A237E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66886" y="5437390"/>
            <a:ext cx="10858228" cy="1001398"/>
          </a:xfrm>
          <a:prstGeom prst="roundRect">
            <a:avLst>
              <a:gd name="adj" fmla="val 209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902993" y="6325224"/>
            <a:ext cx="228594" cy="194309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95480" y="5667263"/>
            <a:ext cx="3343191" cy="542925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7876" y="5834903"/>
            <a:ext cx="228594" cy="21717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90768" y="5775971"/>
            <a:ext cx="1941712" cy="3159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D32F2F"/>
                </a:solidFill>
              </a:rPr>
              <a:t>图像修复领域表现卓越</a:t>
            </a:r>
            <a:endParaRPr sz="1400" b="1" dirty="0">
              <a:solidFill>
                <a:srgbClr val="D32F2F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429167" y="5667263"/>
            <a:ext cx="3343191" cy="542925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81563" y="5886338"/>
            <a:ext cx="228594" cy="1143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24453" y="5780733"/>
            <a:ext cx="2457391" cy="3159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跳跃连接</a:t>
            </a:r>
            <a:r>
              <a:rPr sz="1400" b="0" dirty="0" err="1">
                <a:solidFill>
                  <a:srgbClr val="1A237E"/>
                </a:solidFill>
              </a:rPr>
              <a:t>有效保留低频信息</a:t>
            </a:r>
            <a:r>
              <a:rPr sz="1076" b="0" dirty="0">
                <a:solidFill>
                  <a:srgbClr val="1A237E"/>
                </a:solidFill>
              </a:rPr>
              <a:t>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3329" y="5667263"/>
            <a:ext cx="3343191" cy="542925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105725" y="5854905"/>
            <a:ext cx="228594" cy="17716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48616" y="5780733"/>
            <a:ext cx="2574984" cy="3159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适合音频频谱修复</a:t>
            </a:r>
            <a:r>
              <a:rPr sz="1400" b="0" dirty="0" err="1">
                <a:solidFill>
                  <a:srgbClr val="1A237E"/>
                </a:solidFill>
              </a:rPr>
              <a:t>，保留音质</a:t>
            </a:r>
            <a:r>
              <a:rPr sz="1400" b="0" dirty="0">
                <a:solidFill>
                  <a:srgbClr val="1A237E"/>
                </a:solidFill>
              </a:rPr>
              <a:t> </a:t>
            </a:r>
          </a:p>
        </p:txBody>
      </p:sp>
      <p:sp>
        <p:nvSpPr>
          <p:cNvPr id="47" name="Rounded Rectangle 21"/>
          <p:cNvSpPr/>
          <p:nvPr/>
        </p:nvSpPr>
        <p:spPr>
          <a:xfrm>
            <a:off x="666733" y="2430010"/>
            <a:ext cx="5267193" cy="2777785"/>
          </a:xfrm>
          <a:prstGeom prst="roundRect">
            <a:avLst>
              <a:gd name="adj" fmla="val 597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22"/>
          <p:cNvSpPr/>
          <p:nvPr/>
        </p:nvSpPr>
        <p:spPr>
          <a:xfrm>
            <a:off x="895327" y="2530337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2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28674" y="2722302"/>
            <a:ext cx="304792" cy="187569"/>
          </a:xfrm>
          <a:prstGeom prst="rect">
            <a:avLst/>
          </a:prstGeom>
        </p:spPr>
      </p:pic>
      <p:sp>
        <p:nvSpPr>
          <p:cNvPr id="50" name="TextBox 24"/>
          <p:cNvSpPr txBox="1"/>
          <p:nvPr/>
        </p:nvSpPr>
        <p:spPr>
          <a:xfrm>
            <a:off x="1619209" y="2617426"/>
            <a:ext cx="2492927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1565C0"/>
                </a:solidFill>
              </a:rPr>
              <a:t>CNN/</a:t>
            </a:r>
            <a:r>
              <a:rPr b="1" dirty="0" err="1">
                <a:solidFill>
                  <a:srgbClr val="1565C0"/>
                </a:solidFill>
              </a:rPr>
              <a:t>RNN（对比方案</a:t>
            </a:r>
            <a:r>
              <a:rPr b="1" dirty="0">
                <a:solidFill>
                  <a:srgbClr val="1565C0"/>
                </a:solidFill>
              </a:rPr>
              <a:t>）</a:t>
            </a:r>
          </a:p>
        </p:txBody>
      </p:sp>
      <p:sp>
        <p:nvSpPr>
          <p:cNvPr id="51" name="Rounded Rectangle 25"/>
          <p:cNvSpPr/>
          <p:nvPr/>
        </p:nvSpPr>
        <p:spPr>
          <a:xfrm>
            <a:off x="895327" y="3254236"/>
            <a:ext cx="4810004" cy="466724"/>
          </a:xfrm>
          <a:prstGeom prst="roundRect">
            <a:avLst>
              <a:gd name="adj" fmla="val 326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26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09624" y="3393189"/>
            <a:ext cx="190495" cy="179294"/>
          </a:xfrm>
          <a:prstGeom prst="rect">
            <a:avLst/>
          </a:prstGeom>
        </p:spPr>
      </p:pic>
      <p:sp>
        <p:nvSpPr>
          <p:cNvPr id="53" name="TextBox 27"/>
          <p:cNvSpPr txBox="1"/>
          <p:nvPr/>
        </p:nvSpPr>
        <p:spPr>
          <a:xfrm>
            <a:off x="1314417" y="3329607"/>
            <a:ext cx="216591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1A237E"/>
                </a:solidFill>
              </a:rPr>
              <a:t> </a:t>
            </a:r>
            <a:r>
              <a:rPr sz="1400" b="1" dirty="0">
                <a:solidFill>
                  <a:srgbClr val="D32F2F"/>
                </a:solidFill>
              </a:rPr>
              <a:t>CNN</a:t>
            </a:r>
            <a:r>
              <a:rPr sz="1400" b="0" dirty="0">
                <a:solidFill>
                  <a:srgbClr val="1A237E"/>
                </a:solidFill>
              </a:rPr>
              <a:t>：擅长提取局部特征 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54" name="Rounded Rectangle 28"/>
          <p:cNvSpPr/>
          <p:nvPr/>
        </p:nvSpPr>
        <p:spPr>
          <a:xfrm>
            <a:off x="895327" y="3835262"/>
            <a:ext cx="4810004" cy="466724"/>
          </a:xfrm>
          <a:prstGeom prst="roundRect">
            <a:avLst>
              <a:gd name="adj" fmla="val 326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5" name="Picture 29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09624" y="3982619"/>
            <a:ext cx="190495" cy="162485"/>
          </a:xfrm>
          <a:prstGeom prst="rect">
            <a:avLst/>
          </a:prstGeom>
        </p:spPr>
      </p:pic>
      <p:sp>
        <p:nvSpPr>
          <p:cNvPr id="56" name="TextBox 30"/>
          <p:cNvSpPr txBox="1"/>
          <p:nvPr/>
        </p:nvSpPr>
        <p:spPr>
          <a:xfrm>
            <a:off x="1314417" y="3910633"/>
            <a:ext cx="217232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1A237E"/>
                </a:solidFill>
              </a:rPr>
              <a:t> </a:t>
            </a:r>
            <a:r>
              <a:rPr sz="1400" b="1" dirty="0" err="1">
                <a:solidFill>
                  <a:srgbClr val="D32F2F"/>
                </a:solidFill>
              </a:rPr>
              <a:t>RNN</a:t>
            </a:r>
            <a:r>
              <a:rPr sz="1400" b="0" dirty="0" err="1">
                <a:solidFill>
                  <a:srgbClr val="1A237E"/>
                </a:solidFill>
              </a:rPr>
              <a:t>：擅长处理序列数据</a:t>
            </a:r>
            <a:r>
              <a:rPr sz="1400" b="0" dirty="0">
                <a:solidFill>
                  <a:srgbClr val="1A237E"/>
                </a:solidFill>
              </a:rPr>
              <a:t> </a:t>
            </a:r>
            <a:endParaRPr sz="1076" b="0" dirty="0">
              <a:solidFill>
                <a:srgbClr val="1A237E"/>
              </a:solidFill>
            </a:endParaRPr>
          </a:p>
        </p:txBody>
      </p:sp>
      <p:sp>
        <p:nvSpPr>
          <p:cNvPr id="57" name="Rounded Rectangle 31"/>
          <p:cNvSpPr/>
          <p:nvPr/>
        </p:nvSpPr>
        <p:spPr>
          <a:xfrm>
            <a:off x="895327" y="4416287"/>
            <a:ext cx="4810004" cy="466724"/>
          </a:xfrm>
          <a:prstGeom prst="roundRect">
            <a:avLst>
              <a:gd name="adj" fmla="val 32653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32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09624" y="4555239"/>
            <a:ext cx="190495" cy="179294"/>
          </a:xfrm>
          <a:prstGeom prst="rect">
            <a:avLst/>
          </a:prstGeom>
        </p:spPr>
      </p:pic>
      <p:sp>
        <p:nvSpPr>
          <p:cNvPr id="59" name="TextBox 33"/>
          <p:cNvSpPr txBox="1"/>
          <p:nvPr/>
        </p:nvSpPr>
        <p:spPr>
          <a:xfrm>
            <a:off x="1314417" y="4491658"/>
            <a:ext cx="255768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A237E"/>
                </a:solidFill>
              </a:rPr>
              <a:t>作为对比模型验证U-Net优越性</a:t>
            </a:r>
            <a:endParaRPr sz="1400" b="0" dirty="0">
              <a:solidFill>
                <a:srgbClr val="1A237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3428914" cy="552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565C0"/>
                </a:solidFill>
              </a:rPr>
              <a:t>计划进度与预期成果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14450"/>
            <a:ext cx="10858228" cy="2647949"/>
          </a:xfrm>
          <a:prstGeom prst="roundRect">
            <a:avLst>
              <a:gd name="adj" fmla="val 115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5822" y="1586679"/>
            <a:ext cx="1733103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1565C0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1565C0"/>
                </a:solidFill>
              </a:rPr>
              <a:t> </a:t>
            </a:r>
            <a:r>
              <a:rPr b="1" dirty="0" err="1">
                <a:solidFill>
                  <a:srgbClr val="1565C0"/>
                </a:solidFill>
              </a:rPr>
              <a:t>项目进度计划</a:t>
            </a:r>
            <a:r>
              <a:rPr b="1" dirty="0">
                <a:solidFill>
                  <a:srgbClr val="1565C0"/>
                </a:solidFill>
              </a:rPr>
              <a:t> </a:t>
            </a:r>
            <a:endParaRPr sz="1435" b="1" dirty="0">
              <a:solidFill>
                <a:srgbClr val="1565C0"/>
              </a:solidFill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1658592"/>
            <a:ext cx="266693" cy="2261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124021" y="2219324"/>
            <a:ext cx="228594" cy="2286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51491" y="2559928"/>
            <a:ext cx="1173656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00" b="1" dirty="0" err="1">
                <a:solidFill>
                  <a:srgbClr val="1565C0"/>
                </a:solidFill>
              </a:rPr>
              <a:t>准备与调研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4089" y="2913454"/>
            <a:ext cx="138845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400" b="0" dirty="0">
                <a:solidFill>
                  <a:srgbClr val="546E7A"/>
                </a:solidFill>
              </a:rPr>
              <a:t>202</a:t>
            </a:r>
            <a:r>
              <a:rPr lang="en-US" sz="1400" b="0" dirty="0">
                <a:solidFill>
                  <a:srgbClr val="546E7A"/>
                </a:solidFill>
              </a:rPr>
              <a:t>5</a:t>
            </a:r>
            <a:r>
              <a:rPr sz="1400" b="0" dirty="0">
                <a:solidFill>
                  <a:srgbClr val="546E7A"/>
                </a:solidFill>
              </a:rPr>
              <a:t>.11-202</a:t>
            </a:r>
            <a:r>
              <a:rPr lang="en-US" sz="1400" b="0" dirty="0">
                <a:solidFill>
                  <a:srgbClr val="546E7A"/>
                </a:solidFill>
              </a:rPr>
              <a:t>5</a:t>
            </a:r>
            <a:r>
              <a:rPr sz="1400" b="0" dirty="0">
                <a:solidFill>
                  <a:srgbClr val="546E7A"/>
                </a:solidFill>
              </a:rPr>
              <a:t>.12</a:t>
            </a:r>
            <a:endParaRPr sz="1076" b="0" dirty="0">
              <a:solidFill>
                <a:srgbClr val="546E7A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66853" y="3352800"/>
            <a:ext cx="742931" cy="323849"/>
          </a:xfrm>
          <a:prstGeom prst="roundRect">
            <a:avLst>
              <a:gd name="adj" fmla="val 117647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66853" y="3352800"/>
            <a:ext cx="742931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2E7D32"/>
                </a:solidFill>
              </a:rPr>
              <a:t>已完成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5707" y="2219324"/>
            <a:ext cx="228594" cy="22860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17992" y="2559928"/>
            <a:ext cx="1584023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00" b="1" dirty="0" err="1">
                <a:solidFill>
                  <a:srgbClr val="1565C0"/>
                </a:solidFill>
              </a:rPr>
              <a:t>数据与模型构建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5774" y="2913454"/>
            <a:ext cx="138845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400" b="0" dirty="0">
                <a:solidFill>
                  <a:srgbClr val="546E7A"/>
                </a:solidFill>
              </a:rPr>
              <a:t>202</a:t>
            </a:r>
            <a:r>
              <a:rPr lang="en-US" sz="1400" b="0" dirty="0">
                <a:solidFill>
                  <a:srgbClr val="546E7A"/>
                </a:solidFill>
              </a:rPr>
              <a:t>6</a:t>
            </a:r>
            <a:r>
              <a:rPr sz="1400" b="0" dirty="0">
                <a:solidFill>
                  <a:srgbClr val="546E7A"/>
                </a:solidFill>
              </a:rPr>
              <a:t>.01-202</a:t>
            </a:r>
            <a:r>
              <a:rPr lang="en-US" sz="1400" b="0" dirty="0">
                <a:solidFill>
                  <a:srgbClr val="546E7A"/>
                </a:solidFill>
              </a:rPr>
              <a:t>6</a:t>
            </a:r>
            <a:r>
              <a:rPr sz="1400" b="0" dirty="0">
                <a:solidFill>
                  <a:srgbClr val="546E7A"/>
                </a:solidFill>
              </a:rPr>
              <a:t>.02</a:t>
            </a:r>
            <a:endParaRPr sz="1076" b="0" dirty="0">
              <a:solidFill>
                <a:srgbClr val="546E7A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38539" y="3352800"/>
            <a:ext cx="742931" cy="323849"/>
          </a:xfrm>
          <a:prstGeom prst="roundRect">
            <a:avLst>
              <a:gd name="adj" fmla="val 117647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8539" y="3352800"/>
            <a:ext cx="742931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57C00"/>
                </a:solidFill>
              </a:rPr>
              <a:t>进行中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7393" y="2219324"/>
            <a:ext cx="228594" cy="228600"/>
          </a:xfrm>
          <a:prstGeom prst="roundRect">
            <a:avLst>
              <a:gd name="adj" fmla="val 5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9678" y="2559928"/>
            <a:ext cx="1584023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00" b="1" dirty="0" err="1">
                <a:solidFill>
                  <a:srgbClr val="1565C0"/>
                </a:solidFill>
              </a:rPr>
              <a:t>模型训练与优化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7460" y="2913454"/>
            <a:ext cx="138845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400" b="0" dirty="0">
                <a:solidFill>
                  <a:srgbClr val="546E7A"/>
                </a:solidFill>
              </a:rPr>
              <a:t>202</a:t>
            </a:r>
            <a:r>
              <a:rPr lang="en-US" sz="1400" b="0" dirty="0">
                <a:solidFill>
                  <a:srgbClr val="546E7A"/>
                </a:solidFill>
              </a:rPr>
              <a:t>6</a:t>
            </a:r>
            <a:r>
              <a:rPr sz="1400" b="0" dirty="0">
                <a:solidFill>
                  <a:srgbClr val="546E7A"/>
                </a:solidFill>
              </a:rPr>
              <a:t>.03-202</a:t>
            </a:r>
            <a:r>
              <a:rPr lang="en-US" sz="1400" b="0" dirty="0">
                <a:solidFill>
                  <a:srgbClr val="546E7A"/>
                </a:solidFill>
              </a:rPr>
              <a:t>6</a:t>
            </a:r>
            <a:r>
              <a:rPr sz="1400" b="0" dirty="0">
                <a:solidFill>
                  <a:srgbClr val="546E7A"/>
                </a:solidFill>
              </a:rPr>
              <a:t>.04</a:t>
            </a:r>
            <a:endParaRPr sz="1076" b="0" dirty="0">
              <a:solidFill>
                <a:srgbClr val="546E7A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010224" y="3352800"/>
            <a:ext cx="742931" cy="323849"/>
          </a:xfrm>
          <a:prstGeom prst="roundRect">
            <a:avLst>
              <a:gd name="adj" fmla="val 117647"/>
            </a:avLst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10224" y="3352800"/>
            <a:ext cx="742931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计划中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39079" y="2219324"/>
            <a:ext cx="228594" cy="228600"/>
          </a:xfrm>
          <a:prstGeom prst="roundRect">
            <a:avLst>
              <a:gd name="adj" fmla="val 5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56179" y="2559928"/>
            <a:ext cx="1994393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00" b="1" dirty="0" err="1">
                <a:solidFill>
                  <a:srgbClr val="1565C0"/>
                </a:solidFill>
              </a:rPr>
              <a:t>系统验证与论文撰写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87715" y="2913454"/>
            <a:ext cx="740845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400" b="0" dirty="0">
                <a:solidFill>
                  <a:srgbClr val="546E7A"/>
                </a:solidFill>
              </a:rPr>
              <a:t>202</a:t>
            </a:r>
            <a:r>
              <a:rPr lang="en-US" sz="1400" b="0" dirty="0">
                <a:solidFill>
                  <a:srgbClr val="546E7A"/>
                </a:solidFill>
              </a:rPr>
              <a:t>6</a:t>
            </a:r>
            <a:r>
              <a:rPr sz="1400" b="0" dirty="0">
                <a:solidFill>
                  <a:srgbClr val="546E7A"/>
                </a:solidFill>
              </a:rPr>
              <a:t>.05</a:t>
            </a:r>
            <a:endParaRPr sz="1076" b="0" dirty="0">
              <a:solidFill>
                <a:srgbClr val="546E7A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581910" y="3352800"/>
            <a:ext cx="742931" cy="323849"/>
          </a:xfrm>
          <a:prstGeom prst="roundRect">
            <a:avLst>
              <a:gd name="adj" fmla="val 117647"/>
            </a:avLst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81910" y="3352800"/>
            <a:ext cx="742931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计划中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248150"/>
            <a:ext cx="3428914" cy="2295525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5327" y="44767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4632080"/>
            <a:ext cx="304792" cy="26083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5327" y="5160253"/>
            <a:ext cx="1994392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 b="1" dirty="0" err="1">
                <a:solidFill>
                  <a:srgbClr val="1565C0"/>
                </a:solidFill>
              </a:rPr>
              <a:t>高性能啸叫抑制模型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5327" y="5589948"/>
            <a:ext cx="2971725" cy="72635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基于</a:t>
            </a:r>
            <a:r>
              <a:rPr sz="1400" b="1" dirty="0" err="1">
                <a:solidFill>
                  <a:srgbClr val="D32F2F"/>
                </a:solidFill>
              </a:rPr>
              <a:t>U</a:t>
            </a:r>
            <a:r>
              <a:rPr sz="1400" b="1" dirty="0">
                <a:solidFill>
                  <a:srgbClr val="D32F2F"/>
                </a:solidFill>
              </a:rPr>
              <a:t>-Net</a:t>
            </a:r>
            <a:r>
              <a:rPr sz="1400" b="0" dirty="0">
                <a:solidFill>
                  <a:srgbClr val="333333"/>
                </a:solidFill>
              </a:rPr>
              <a:t>架构，在客观指标和主观听感上均优于传统方法，提供更高的最大稳定增益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1390" y="4248150"/>
            <a:ext cx="3428914" cy="2295525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609984" y="44767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3331" y="4680438"/>
            <a:ext cx="304792" cy="16412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09984" y="5160253"/>
            <a:ext cx="2199577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 b="1" dirty="0" err="1">
                <a:solidFill>
                  <a:srgbClr val="1565C0"/>
                </a:solidFill>
              </a:rPr>
              <a:t>完整的训练与评估代码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09984" y="5589948"/>
            <a:ext cx="2971725" cy="72635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具备良好的</a:t>
            </a:r>
            <a:r>
              <a:rPr sz="1400" b="1" dirty="0" err="1">
                <a:solidFill>
                  <a:srgbClr val="D32F2F"/>
                </a:solidFill>
              </a:rPr>
              <a:t>可复现性</a:t>
            </a:r>
            <a:r>
              <a:rPr sz="1400" b="0" dirty="0" err="1">
                <a:solidFill>
                  <a:srgbClr val="333333"/>
                </a:solidFill>
              </a:rPr>
              <a:t>，包含数据预处理、模型训练、评估和可视化等完整流程</a:t>
            </a:r>
            <a:r>
              <a:rPr sz="1400" b="0" dirty="0">
                <a:solidFill>
                  <a:srgbClr val="333333"/>
                </a:solidFill>
              </a:rPr>
              <a:t>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6047" y="4248150"/>
            <a:ext cx="3428914" cy="2295525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4641" y="44767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57988" y="4633546"/>
            <a:ext cx="304792" cy="2579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24641" y="5160253"/>
            <a:ext cx="1789208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600" b="1" dirty="0" err="1">
                <a:solidFill>
                  <a:srgbClr val="1565C0"/>
                </a:solidFill>
              </a:rPr>
              <a:t>高质量的毕业论文</a:t>
            </a:r>
            <a:endParaRPr sz="1196" b="1" dirty="0">
              <a:solidFill>
                <a:srgbClr val="1565C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24641" y="5589948"/>
            <a:ext cx="2971725" cy="72635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系统性地阐述研究工作，包括</a:t>
            </a:r>
            <a:r>
              <a:rPr sz="1400" b="1" dirty="0" err="1">
                <a:solidFill>
                  <a:srgbClr val="D32F2F"/>
                </a:solidFill>
              </a:rPr>
              <a:t>理论基础</a:t>
            </a:r>
            <a:r>
              <a:rPr sz="1400" b="0" dirty="0" err="1">
                <a:solidFill>
                  <a:srgbClr val="333333"/>
                </a:solidFill>
              </a:rPr>
              <a:t>、实验设计、结果分析和未来展望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endParaRPr sz="1076" b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1797</Words>
  <Application>Microsoft Office PowerPoint</Application>
  <PresentationFormat>宽屏</PresentationFormat>
  <Paragraphs>193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ui-sans-serif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里亚帕尔默 德</cp:lastModifiedBy>
  <cp:revision>44</cp:revision>
  <dcterms:created xsi:type="dcterms:W3CDTF">2013-01-27T09:14:16Z</dcterms:created>
  <dcterms:modified xsi:type="dcterms:W3CDTF">2025-12-15T06:08:34Z</dcterms:modified>
  <cp:category/>
</cp:coreProperties>
</file>